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roxima Nova"/>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fntdata"/><Relationship Id="rId11" Type="http://schemas.openxmlformats.org/officeDocument/2006/relationships/slide" Target="slides/slide6.xml"/><Relationship Id="rId22" Type="http://schemas.openxmlformats.org/officeDocument/2006/relationships/font" Target="fonts/ProximaNova-boldItalic.fntdata"/><Relationship Id="rId10" Type="http://schemas.openxmlformats.org/officeDocument/2006/relationships/slide" Target="slides/slide5.xml"/><Relationship Id="rId21" Type="http://schemas.openxmlformats.org/officeDocument/2006/relationships/font" Target="fonts/ProximaNova-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ProximaNova-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12dea86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12dea86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dac6718b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dac6718b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912dea86e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912dea86e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616161"/>
                </a:solidFill>
                <a:latin typeface="Proxima Nova"/>
                <a:ea typeface="Proxima Nova"/>
                <a:cs typeface="Proxima Nova"/>
                <a:sym typeface="Proxima Nova"/>
              </a:rPr>
              <a:t>Downsides: classes were declared in difficult to parse .jpg_coco.json files. As a result, we could only treat the dataset as binary (sign vs background) using the VIA files</a:t>
            </a:r>
            <a:endParaRPr sz="1800">
              <a:solidFill>
                <a:srgbClr val="616161"/>
              </a:solidFill>
              <a:latin typeface="Proxima Nova"/>
              <a:ea typeface="Proxima Nova"/>
              <a:cs typeface="Proxima Nova"/>
              <a:sym typeface="Proxima Nova"/>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dac6718b8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dac6718b8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IoU measures overlap of expected vs actual bounding boxes. Precision measures </a:t>
            </a:r>
            <a:r>
              <a:rPr lang="en"/>
              <a:t>positive</a:t>
            </a:r>
            <a:r>
              <a:rPr lang="en"/>
              <a:t> predictions vs true positives. Recall measures true positives vs all actual positives. F1 combines Precision and Recall.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12dea86e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912dea86e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a:solidFill>
                  <a:srgbClr val="616161"/>
                </a:solidFill>
                <a:latin typeface="Proxima Nova"/>
                <a:ea typeface="Proxima Nova"/>
                <a:cs typeface="Proxima Nova"/>
                <a:sym typeface="Proxima Nova"/>
              </a:rPr>
              <a:t>U-net is a convolutional neural network that was made for image segmentation. In our case, it tries to predict which categories or classes each pixel belongs to. The network consists of a contracting path and an expansive path, which gives it the u-shaped architecture. The contracting path is a typical convolutional network that consists of repeated application of convolutions, each followed by a rectified linear unit (ReLU) and a max pooling operation. During the contraction, the spatial information is reduced while feature information is increased. The expansive pathway combines the feature and spatial information through a sequence of up-convolutions and concatenations with high-resolution features from the contracting path.</a:t>
            </a:r>
            <a:endParaRPr sz="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d4c2f5cd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d4c2f5cd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12dea86e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12dea86e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12dea86e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12dea86e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images were made to visualize the performance of the model after the 20 epochs of training and validation. In the lower image, there are many small distant signs and it seems like the model can’t recognize any but one of them. The model appears to perform best in the upper row here where the signs are large or near. The loss of small and distant signs seems to line up with the relatively low Recall. Over the course of training the training loss consistently improved while the validation loss bottomed out at around 0.0188 which is still pretty good. If the model flagged something as part of a sign, it was usually correct, but the IOU indicates that it was only about 50% consistent with the true masks. The 5-fold evaluation shows it relatively consistent across the splits and is able to generalize well meaning that it was learning, but it wasn’t learning perfectly.</a:t>
            </a:r>
            <a:br>
              <a:rPr lang="en"/>
            </a:br>
            <a:br>
              <a:rPr lang="en"/>
            </a:br>
            <a:r>
              <a:rPr lang="en"/>
              <a:t>My model used pure BCE loss which has a </a:t>
            </a:r>
            <a:r>
              <a:rPr lang="en"/>
              <a:t>tendency</a:t>
            </a:r>
            <a:r>
              <a:rPr lang="en"/>
              <a:t> to predict everything as background early in training because this produces a low training loss early. If I were to do this again, I would’ve more heavily weighted foreground pixels. Additionally, I used 4 downsampling blocks which also has a </a:t>
            </a:r>
            <a:r>
              <a:rPr lang="en"/>
              <a:t>tendency</a:t>
            </a:r>
            <a:r>
              <a:rPr lang="en"/>
              <a:t> to lower recall. And 256x256 was also likely too much size reduction and also hurt recall making small signs even smaller and less significant.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912dea86e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912dea86e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12dea86e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12dea86e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12dea86e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12dea86e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U-Net limitations: likely contributors to low recall (missing those small or distant signs):</a:t>
            </a:r>
            <a:br>
              <a:rPr lang="en">
                <a:solidFill>
                  <a:schemeClr val="dk1"/>
                </a:solidFill>
              </a:rPr>
            </a:br>
            <a:br>
              <a:rPr lang="en">
                <a:solidFill>
                  <a:schemeClr val="dk1"/>
                </a:solidFill>
              </a:rPr>
            </a:br>
            <a:r>
              <a:rPr lang="en">
                <a:solidFill>
                  <a:schemeClr val="dk1"/>
                </a:solidFill>
              </a:rPr>
              <a:t>BCE loss tends to predict everything as background because it has relatively low loss early in training</a:t>
            </a:r>
            <a:br>
              <a:rPr lang="en">
                <a:solidFill>
                  <a:schemeClr val="dk1"/>
                </a:solidFill>
              </a:rPr>
            </a:br>
            <a:r>
              <a:rPr lang="en">
                <a:solidFill>
                  <a:schemeClr val="dk1"/>
                </a:solidFill>
              </a:rPr>
              <a:t>Too much downsampling. I used 4 downsampling blocks which can lower recall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Too much size reduction: 256x256 was probably too small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Mrcnn: many false positives observed, leading to pretty bad performance metrics overall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12dea86e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912dea86e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viacheslavshalamov/russian-road-signs-segmentation-datas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youtube.com/watch?v=tHL5STNJKag" TargetMode="External"/><Relationship Id="rId4" Type="http://schemas.openxmlformats.org/officeDocument/2006/relationships/hyperlink" Target="https://www.youtube.com/watch?v=ZoOuNv8TXLs" TargetMode="External"/><Relationship Id="rId5" Type="http://schemas.openxmlformats.org/officeDocument/2006/relationships/hyperlink" Target="https://www.kaggle.com/datasets/viacheslavshalamov/russian-road-signs-segmentation-dataset" TargetMode="External"/><Relationship Id="rId6" Type="http://schemas.openxmlformats.org/officeDocument/2006/relationships/hyperlink" Target="http://pyimagesearch.com/2016/11/07/intersection-over-union-iou-for-object-detection/" TargetMode="External"/><Relationship Id="rId7" Type="http://schemas.openxmlformats.org/officeDocument/2006/relationships/hyperlink" Target="http://developers.arcgis.com/python/latest/guide/how-maskrcnn-works/" TargetMode="External"/><Relationship Id="rId8" Type="http://schemas.openxmlformats.org/officeDocument/2006/relationships/hyperlink" Target="http://blog.roboflow.com/mask-rcn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Traffic Sign Detection</a:t>
            </a:r>
            <a:endParaRPr/>
          </a:p>
        </p:txBody>
      </p:sp>
      <p:sp>
        <p:nvSpPr>
          <p:cNvPr id="60" name="Google Shape;60;p13"/>
          <p:cNvSpPr txBox="1"/>
          <p:nvPr>
            <p:ph idx="1" type="subTitle"/>
          </p:nvPr>
        </p:nvSpPr>
        <p:spPr>
          <a:xfrm>
            <a:off x="510450" y="3182331"/>
            <a:ext cx="8123100" cy="91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Group 5:</a:t>
            </a:r>
            <a:endParaRPr/>
          </a:p>
          <a:p>
            <a:pPr indent="0" lvl="0" marL="0" rtl="0" algn="l">
              <a:spcBef>
                <a:spcPts val="0"/>
              </a:spcBef>
              <a:spcAft>
                <a:spcPts val="0"/>
              </a:spcAft>
              <a:buNone/>
            </a:pPr>
            <a:r>
              <a:rPr lang="en"/>
              <a:t>Collin Cleary, Logan Costa, Ben Simonds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Background</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en"/>
              <a:t>Problem:</a:t>
            </a:r>
            <a:endParaRPr b="1"/>
          </a:p>
          <a:p>
            <a:pPr indent="-330200" lvl="0" marL="457200" rtl="0" algn="l">
              <a:lnSpc>
                <a:spcPct val="150000"/>
              </a:lnSpc>
              <a:spcBef>
                <a:spcPts val="1200"/>
              </a:spcBef>
              <a:spcAft>
                <a:spcPts val="0"/>
              </a:spcAft>
              <a:buSzPts val="1600"/>
              <a:buChar char="●"/>
            </a:pPr>
            <a:r>
              <a:rPr lang="en" sz="1600"/>
              <a:t>Develop </a:t>
            </a:r>
            <a:r>
              <a:rPr b="1" lang="en" sz="1600"/>
              <a:t>Traffic Sign Detection System</a:t>
            </a:r>
            <a:r>
              <a:rPr lang="en" sz="1600"/>
              <a:t> using computer vision models</a:t>
            </a:r>
            <a:endParaRPr sz="1600"/>
          </a:p>
          <a:p>
            <a:pPr indent="0" lvl="0" marL="0" rtl="0" algn="l">
              <a:lnSpc>
                <a:spcPct val="115000"/>
              </a:lnSpc>
              <a:spcBef>
                <a:spcPts val="1200"/>
              </a:spcBef>
              <a:spcAft>
                <a:spcPts val="0"/>
              </a:spcAft>
              <a:buNone/>
            </a:pPr>
            <a:r>
              <a:rPr b="1" lang="en"/>
              <a:t>Models:</a:t>
            </a:r>
            <a:endParaRPr b="1"/>
          </a:p>
          <a:p>
            <a:pPr indent="-330200" lvl="0" marL="457200" rtl="0" algn="l">
              <a:lnSpc>
                <a:spcPct val="115000"/>
              </a:lnSpc>
              <a:spcBef>
                <a:spcPts val="1200"/>
              </a:spcBef>
              <a:spcAft>
                <a:spcPts val="0"/>
              </a:spcAft>
              <a:buSzPts val="1600"/>
              <a:buChar char="●"/>
            </a:pPr>
            <a:r>
              <a:rPr b="1" lang="en" sz="1600"/>
              <a:t>U-Net</a:t>
            </a:r>
            <a:endParaRPr b="1" sz="1600"/>
          </a:p>
          <a:p>
            <a:pPr indent="-330200" lvl="1" marL="914400" rtl="0" algn="l">
              <a:lnSpc>
                <a:spcPct val="150000"/>
              </a:lnSpc>
              <a:spcBef>
                <a:spcPts val="0"/>
              </a:spcBef>
              <a:spcAft>
                <a:spcPts val="0"/>
              </a:spcAft>
              <a:buSzPts val="1600"/>
              <a:buChar char="○"/>
            </a:pPr>
            <a:r>
              <a:rPr lang="en" sz="1600"/>
              <a:t>Used primarily in biomedical applications</a:t>
            </a:r>
            <a:endParaRPr sz="1600"/>
          </a:p>
          <a:p>
            <a:pPr indent="-330200" lvl="0" marL="457200" rtl="0" algn="l">
              <a:lnSpc>
                <a:spcPct val="115000"/>
              </a:lnSpc>
              <a:spcBef>
                <a:spcPts val="0"/>
              </a:spcBef>
              <a:spcAft>
                <a:spcPts val="0"/>
              </a:spcAft>
              <a:buSzPts val="1600"/>
              <a:buChar char="●"/>
            </a:pPr>
            <a:r>
              <a:rPr b="1" lang="en" sz="1600"/>
              <a:t>Mask R-CNN</a:t>
            </a:r>
            <a:endParaRPr b="1" sz="1600"/>
          </a:p>
          <a:p>
            <a:pPr indent="-330200" lvl="1" marL="914400" rtl="0" algn="l">
              <a:lnSpc>
                <a:spcPct val="115000"/>
              </a:lnSpc>
              <a:spcBef>
                <a:spcPts val="0"/>
              </a:spcBef>
              <a:spcAft>
                <a:spcPts val="0"/>
              </a:spcAft>
              <a:buSzPts val="1600"/>
              <a:buChar char="○"/>
            </a:pPr>
            <a:r>
              <a:rPr lang="en" sz="1600"/>
              <a:t>Used in various applications, including motion capture and autonomous driving</a:t>
            </a:r>
            <a:endParaRPr sz="1600"/>
          </a:p>
          <a:p>
            <a:pPr indent="0" lvl="0" marL="0" rtl="0" algn="l">
              <a:spcBef>
                <a:spcPts val="1200"/>
              </a:spcBef>
              <a:spcAft>
                <a:spcPts val="1200"/>
              </a:spcAft>
              <a:buNone/>
            </a:pPr>
            <a:r>
              <a:t/>
            </a:r>
            <a:endParaRPr sz="1400"/>
          </a:p>
        </p:txBody>
      </p:sp>
      <p:cxnSp>
        <p:nvCxnSpPr>
          <p:cNvPr id="67" name="Google Shape;67;p14"/>
          <p:cNvCxnSpPr>
            <a:endCxn id="65" idx="2"/>
          </p:cNvCxnSpPr>
          <p:nvPr/>
        </p:nvCxnSpPr>
        <p:spPr>
          <a:xfrm flipH="1" rot="10800000">
            <a:off x="318900" y="1017725"/>
            <a:ext cx="4253100" cy="7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Hypotheses</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U-Net will perform better with </a:t>
            </a:r>
            <a:r>
              <a:rPr b="1" lang="en"/>
              <a:t>semantic segmentation</a:t>
            </a:r>
            <a:endParaRPr b="1"/>
          </a:p>
          <a:p>
            <a:pPr indent="-317500" lvl="1" marL="914400" rtl="0" algn="l">
              <a:lnSpc>
                <a:spcPct val="200000"/>
              </a:lnSpc>
              <a:spcBef>
                <a:spcPts val="0"/>
              </a:spcBef>
              <a:spcAft>
                <a:spcPts val="0"/>
              </a:spcAft>
              <a:buSzPts val="1400"/>
              <a:buChar char="○"/>
            </a:pPr>
            <a:r>
              <a:rPr lang="en"/>
              <a:t>Sign vs. background</a:t>
            </a:r>
            <a:endParaRPr/>
          </a:p>
          <a:p>
            <a:pPr indent="-342900" lvl="0" marL="457200" rtl="0" algn="l">
              <a:lnSpc>
                <a:spcPct val="150000"/>
              </a:lnSpc>
              <a:spcBef>
                <a:spcPts val="0"/>
              </a:spcBef>
              <a:spcAft>
                <a:spcPts val="0"/>
              </a:spcAft>
              <a:buSzPts val="1800"/>
              <a:buChar char="●"/>
            </a:pPr>
            <a:r>
              <a:rPr lang="en"/>
              <a:t>Mask R-CNN will perform better with </a:t>
            </a:r>
            <a:r>
              <a:rPr b="1" lang="en"/>
              <a:t>instance segmentation</a:t>
            </a:r>
            <a:endParaRPr b="1"/>
          </a:p>
          <a:p>
            <a:pPr indent="-317500" lvl="1" marL="914400" rtl="0" algn="l">
              <a:lnSpc>
                <a:spcPct val="200000"/>
              </a:lnSpc>
              <a:spcBef>
                <a:spcPts val="0"/>
              </a:spcBef>
              <a:spcAft>
                <a:spcPts val="0"/>
              </a:spcAft>
              <a:buSzPts val="1400"/>
              <a:buChar char="○"/>
            </a:pPr>
            <a:r>
              <a:rPr lang="en"/>
              <a:t>Detecting individual signs</a:t>
            </a:r>
            <a:endParaRPr/>
          </a:p>
        </p:txBody>
      </p:sp>
      <p:pic>
        <p:nvPicPr>
          <p:cNvPr id="74" name="Google Shape;74;p15"/>
          <p:cNvPicPr preferRelativeResize="0"/>
          <p:nvPr/>
        </p:nvPicPr>
        <p:blipFill>
          <a:blip r:embed="rId3">
            <a:alphaModFix/>
          </a:blip>
          <a:stretch>
            <a:fillRect/>
          </a:stretch>
        </p:blipFill>
        <p:spPr>
          <a:xfrm>
            <a:off x="1849525" y="2924825"/>
            <a:ext cx="5501424" cy="2022925"/>
          </a:xfrm>
          <a:prstGeom prst="rect">
            <a:avLst/>
          </a:prstGeom>
          <a:noFill/>
          <a:ln>
            <a:noFill/>
          </a:ln>
        </p:spPr>
      </p:pic>
      <p:cxnSp>
        <p:nvCxnSpPr>
          <p:cNvPr id="75" name="Google Shape;75;p15"/>
          <p:cNvCxnSpPr/>
          <p:nvPr/>
        </p:nvCxnSpPr>
        <p:spPr>
          <a:xfrm>
            <a:off x="318900" y="1020500"/>
            <a:ext cx="19590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Dataset</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Initial dataset:</a:t>
            </a:r>
            <a:r>
              <a:rPr lang="en"/>
              <a:t> made for YOLOv8 with bounding boxes.</a:t>
            </a:r>
            <a:endParaRPr/>
          </a:p>
          <a:p>
            <a:pPr indent="-336550" lvl="0" marL="457200" rtl="0" algn="l">
              <a:spcBef>
                <a:spcPts val="1200"/>
              </a:spcBef>
              <a:spcAft>
                <a:spcPts val="0"/>
              </a:spcAft>
              <a:buSzPts val="1700"/>
              <a:buChar char="●"/>
            </a:pPr>
            <a:r>
              <a:rPr lang="en" sz="1700"/>
              <a:t>Good for Mask R-CNN</a:t>
            </a:r>
            <a:endParaRPr sz="1700"/>
          </a:p>
          <a:p>
            <a:pPr indent="-336550" lvl="0" marL="457200" rtl="0" algn="l">
              <a:spcBef>
                <a:spcPts val="0"/>
              </a:spcBef>
              <a:spcAft>
                <a:spcPts val="0"/>
              </a:spcAft>
              <a:buSzPts val="1700"/>
              <a:buChar char="●"/>
            </a:pPr>
            <a:r>
              <a:rPr lang="en" sz="1700"/>
              <a:t>Bad for U-Net</a:t>
            </a:r>
            <a:endParaRPr sz="1700"/>
          </a:p>
          <a:p>
            <a:pPr indent="0" lvl="0" marL="0" rtl="0" algn="l">
              <a:spcBef>
                <a:spcPts val="1200"/>
              </a:spcBef>
              <a:spcAft>
                <a:spcPts val="0"/>
              </a:spcAft>
              <a:buNone/>
            </a:pPr>
            <a:r>
              <a:rPr b="1" lang="en"/>
              <a:t>New dataset:</a:t>
            </a:r>
            <a:r>
              <a:rPr lang="en"/>
              <a:t> </a:t>
            </a:r>
            <a:r>
              <a:rPr lang="en" sz="1200" u="sng">
                <a:solidFill>
                  <a:schemeClr val="hlink"/>
                </a:solidFill>
                <a:hlinkClick r:id="rId3"/>
              </a:rPr>
              <a:t>https://www.kaggle.com/datasets/viacheslavshalamov/russian-road-signs-segmentation-dataset</a:t>
            </a:r>
            <a:r>
              <a:rPr lang="en" sz="1200"/>
              <a:t> </a:t>
            </a:r>
            <a:endParaRPr sz="1200"/>
          </a:p>
          <a:p>
            <a:pPr indent="-336550" lvl="0" marL="457200" rtl="0" algn="l">
              <a:spcBef>
                <a:spcPts val="1200"/>
              </a:spcBef>
              <a:spcAft>
                <a:spcPts val="0"/>
              </a:spcAft>
              <a:buSzPts val="1700"/>
              <a:buChar char="●"/>
            </a:pPr>
            <a:r>
              <a:rPr lang="en" sz="1700"/>
              <a:t>Precise pixel maps</a:t>
            </a:r>
            <a:endParaRPr sz="1700"/>
          </a:p>
          <a:p>
            <a:pPr indent="-317500" lvl="1" marL="914400" rtl="0" algn="l">
              <a:spcBef>
                <a:spcPts val="0"/>
              </a:spcBef>
              <a:spcAft>
                <a:spcPts val="0"/>
              </a:spcAft>
              <a:buSzPts val="1400"/>
              <a:buChar char="○"/>
            </a:pPr>
            <a:r>
              <a:rPr lang="en"/>
              <a:t>Good for Mask R-CNN</a:t>
            </a:r>
            <a:endParaRPr/>
          </a:p>
          <a:p>
            <a:pPr indent="-317500" lvl="1" marL="914400" rtl="0" algn="l">
              <a:spcBef>
                <a:spcPts val="0"/>
              </a:spcBef>
              <a:spcAft>
                <a:spcPts val="0"/>
              </a:spcAft>
              <a:buSzPts val="1400"/>
              <a:buChar char="○"/>
            </a:pPr>
            <a:r>
              <a:rPr lang="en"/>
              <a:t>Good for U-Net</a:t>
            </a:r>
            <a:endParaRPr/>
          </a:p>
          <a:p>
            <a:pPr indent="-336550" lvl="0" marL="457200" rtl="0" algn="l">
              <a:spcBef>
                <a:spcPts val="0"/>
              </a:spcBef>
              <a:spcAft>
                <a:spcPts val="0"/>
              </a:spcAft>
              <a:buSzPts val="1700"/>
              <a:buChar char="●"/>
            </a:pPr>
            <a:r>
              <a:rPr lang="en" sz="1700"/>
              <a:t>Binary </a:t>
            </a:r>
            <a:r>
              <a:rPr lang="en" sz="1700"/>
              <a:t>dataset</a:t>
            </a:r>
            <a:r>
              <a:rPr lang="en" sz="1700"/>
              <a:t> (sign vs background)</a:t>
            </a:r>
            <a:endParaRPr/>
          </a:p>
        </p:txBody>
      </p:sp>
      <p:cxnSp>
        <p:nvCxnSpPr>
          <p:cNvPr id="82" name="Google Shape;82;p16"/>
          <p:cNvCxnSpPr/>
          <p:nvPr/>
        </p:nvCxnSpPr>
        <p:spPr>
          <a:xfrm flipH="1" rot="10800000">
            <a:off x="314350" y="1011450"/>
            <a:ext cx="1922700" cy="4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Evaluation</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b="1" lang="en"/>
              <a:t>IoU</a:t>
            </a:r>
            <a:r>
              <a:rPr lang="en"/>
              <a:t> (Intersection over Union)</a:t>
            </a:r>
            <a:endParaRPr/>
          </a:p>
          <a:p>
            <a:pPr indent="-342900" lvl="0" marL="457200" rtl="0" algn="l">
              <a:lnSpc>
                <a:spcPct val="150000"/>
              </a:lnSpc>
              <a:spcBef>
                <a:spcPts val="0"/>
              </a:spcBef>
              <a:spcAft>
                <a:spcPts val="0"/>
              </a:spcAft>
              <a:buSzPts val="1800"/>
              <a:buChar char="●"/>
            </a:pPr>
            <a:r>
              <a:rPr b="1" lang="en"/>
              <a:t>Precision</a:t>
            </a:r>
            <a:endParaRPr b="1"/>
          </a:p>
          <a:p>
            <a:pPr indent="-323850" lvl="1" marL="914400" rtl="0" algn="l">
              <a:lnSpc>
                <a:spcPct val="150000"/>
              </a:lnSpc>
              <a:spcBef>
                <a:spcPts val="0"/>
              </a:spcBef>
              <a:spcAft>
                <a:spcPts val="0"/>
              </a:spcAft>
              <a:buSzPts val="1500"/>
              <a:buChar char="○"/>
            </a:pPr>
            <a:r>
              <a:rPr lang="en" sz="1500"/>
              <a:t>Accuracy of positive predictions</a:t>
            </a:r>
            <a:endParaRPr sz="1500"/>
          </a:p>
          <a:p>
            <a:pPr indent="-342900" lvl="0" marL="457200" rtl="0" algn="l">
              <a:lnSpc>
                <a:spcPct val="150000"/>
              </a:lnSpc>
              <a:spcBef>
                <a:spcPts val="0"/>
              </a:spcBef>
              <a:spcAft>
                <a:spcPts val="0"/>
              </a:spcAft>
              <a:buSzPts val="1800"/>
              <a:buChar char="●"/>
            </a:pPr>
            <a:r>
              <a:rPr b="1" lang="en"/>
              <a:t>Recall</a:t>
            </a:r>
            <a:endParaRPr b="1"/>
          </a:p>
          <a:p>
            <a:pPr indent="-323850" lvl="1" marL="914400" rtl="0" algn="l">
              <a:lnSpc>
                <a:spcPct val="150000"/>
              </a:lnSpc>
              <a:spcBef>
                <a:spcPts val="0"/>
              </a:spcBef>
              <a:spcAft>
                <a:spcPts val="0"/>
              </a:spcAft>
              <a:buSzPts val="1500"/>
              <a:buChar char="○"/>
            </a:pPr>
            <a:r>
              <a:rPr lang="en" sz="1500"/>
              <a:t>Sensitivity / True Positive Rate</a:t>
            </a:r>
            <a:endParaRPr sz="1500"/>
          </a:p>
          <a:p>
            <a:pPr indent="-342900" lvl="0" marL="457200" rtl="0" algn="l">
              <a:lnSpc>
                <a:spcPct val="150000"/>
              </a:lnSpc>
              <a:spcBef>
                <a:spcPts val="0"/>
              </a:spcBef>
              <a:spcAft>
                <a:spcPts val="0"/>
              </a:spcAft>
              <a:buSzPts val="1800"/>
              <a:buChar char="●"/>
            </a:pPr>
            <a:r>
              <a:rPr b="1" lang="en"/>
              <a:t>F1</a:t>
            </a:r>
            <a:r>
              <a:rPr lang="en"/>
              <a:t> score</a:t>
            </a:r>
            <a:endParaRPr/>
          </a:p>
          <a:p>
            <a:pPr indent="-323850" lvl="1" marL="914400" rtl="0" algn="l">
              <a:lnSpc>
                <a:spcPct val="150000"/>
              </a:lnSpc>
              <a:spcBef>
                <a:spcPts val="0"/>
              </a:spcBef>
              <a:spcAft>
                <a:spcPts val="0"/>
              </a:spcAft>
              <a:buSzPts val="1500"/>
              <a:buChar char="○"/>
            </a:pPr>
            <a:r>
              <a:rPr lang="en" sz="1500"/>
              <a:t>Combines Precision and Recall - </a:t>
            </a:r>
            <a:r>
              <a:rPr lang="en" sz="1500"/>
              <a:t>must score high on both</a:t>
            </a:r>
            <a:endParaRPr sz="1500"/>
          </a:p>
        </p:txBody>
      </p:sp>
      <p:pic>
        <p:nvPicPr>
          <p:cNvPr descr="Figure 2: Computing the Intersection of Union is as simple as dividing the area of overlap between the bounding boxes by the area of union (thank you to the excellent Pittsburg HW4 assignment for the inspiration for this figure)." id="89" name="Google Shape;89;p17"/>
          <p:cNvPicPr preferRelativeResize="0"/>
          <p:nvPr/>
        </p:nvPicPr>
        <p:blipFill>
          <a:blip r:embed="rId3">
            <a:alphaModFix/>
          </a:blip>
          <a:stretch>
            <a:fillRect/>
          </a:stretch>
        </p:blipFill>
        <p:spPr>
          <a:xfrm>
            <a:off x="5192700" y="445025"/>
            <a:ext cx="3238699" cy="2526200"/>
          </a:xfrm>
          <a:prstGeom prst="rect">
            <a:avLst/>
          </a:prstGeom>
          <a:noFill/>
          <a:ln>
            <a:noFill/>
          </a:ln>
        </p:spPr>
      </p:pic>
      <p:cxnSp>
        <p:nvCxnSpPr>
          <p:cNvPr id="90" name="Google Shape;90;p17"/>
          <p:cNvCxnSpPr/>
          <p:nvPr/>
        </p:nvCxnSpPr>
        <p:spPr>
          <a:xfrm flipH="1" rot="10800000">
            <a:off x="314350" y="1016050"/>
            <a:ext cx="1662900" cy="9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a:t>
            </a:r>
            <a:endParaRPr/>
          </a:p>
        </p:txBody>
      </p:sp>
      <p:pic>
        <p:nvPicPr>
          <p:cNvPr id="96" name="Google Shape;96;p18"/>
          <p:cNvPicPr preferRelativeResize="0"/>
          <p:nvPr/>
        </p:nvPicPr>
        <p:blipFill>
          <a:blip r:embed="rId3">
            <a:alphaModFix/>
          </a:blip>
          <a:stretch>
            <a:fillRect/>
          </a:stretch>
        </p:blipFill>
        <p:spPr>
          <a:xfrm>
            <a:off x="3558183" y="814839"/>
            <a:ext cx="5274117" cy="3513832"/>
          </a:xfrm>
          <a:prstGeom prst="rect">
            <a:avLst/>
          </a:prstGeom>
          <a:noFill/>
          <a:ln>
            <a:noFill/>
          </a:ln>
        </p:spPr>
      </p:pic>
      <p:sp>
        <p:nvSpPr>
          <p:cNvPr id="97" name="Google Shape;9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lnSpc>
                <a:spcPct val="200000"/>
              </a:lnSpc>
              <a:spcBef>
                <a:spcPts val="0"/>
              </a:spcBef>
              <a:spcAft>
                <a:spcPts val="0"/>
              </a:spcAft>
              <a:buSzPts val="1500"/>
              <a:buChar char="●"/>
            </a:pPr>
            <a:r>
              <a:rPr lang="en" sz="1500"/>
              <a:t>Convolutional Neural Network</a:t>
            </a:r>
            <a:endParaRPr sz="1500"/>
          </a:p>
          <a:p>
            <a:pPr indent="-323850" lvl="0" marL="457200" rtl="0" algn="l">
              <a:lnSpc>
                <a:spcPct val="200000"/>
              </a:lnSpc>
              <a:spcBef>
                <a:spcPts val="0"/>
              </a:spcBef>
              <a:spcAft>
                <a:spcPts val="0"/>
              </a:spcAft>
              <a:buSzPts val="1500"/>
              <a:buChar char="●"/>
            </a:pPr>
            <a:r>
              <a:rPr lang="en" sz="1500"/>
              <a:t>Predict categories/classes</a:t>
            </a:r>
            <a:endParaRPr sz="1500"/>
          </a:p>
          <a:p>
            <a:pPr indent="-323850" lvl="0" marL="457200" rtl="0" algn="l">
              <a:lnSpc>
                <a:spcPct val="200000"/>
              </a:lnSpc>
              <a:spcBef>
                <a:spcPts val="0"/>
              </a:spcBef>
              <a:spcAft>
                <a:spcPts val="0"/>
              </a:spcAft>
              <a:buSzPts val="1500"/>
              <a:buChar char="●"/>
            </a:pPr>
            <a:r>
              <a:rPr lang="en" sz="1500"/>
              <a:t>Classify </a:t>
            </a:r>
            <a:r>
              <a:rPr b="1" lang="en" sz="1500"/>
              <a:t>each pixel</a:t>
            </a:r>
            <a:endParaRPr b="1" sz="1500"/>
          </a:p>
          <a:p>
            <a:pPr indent="-323850" lvl="0" marL="457200" rtl="0" algn="l">
              <a:lnSpc>
                <a:spcPct val="200000"/>
              </a:lnSpc>
              <a:spcBef>
                <a:spcPts val="0"/>
              </a:spcBef>
              <a:spcAft>
                <a:spcPts val="0"/>
              </a:spcAft>
              <a:buSzPts val="1500"/>
              <a:buChar char="●"/>
            </a:pPr>
            <a:r>
              <a:rPr b="1" lang="en" sz="1500"/>
              <a:t>Contracting</a:t>
            </a:r>
            <a:r>
              <a:rPr lang="en" sz="1500"/>
              <a:t> and </a:t>
            </a:r>
            <a:r>
              <a:rPr b="1" lang="en" sz="1500"/>
              <a:t>expansive</a:t>
            </a:r>
            <a:r>
              <a:rPr lang="en" sz="1500"/>
              <a:t> paths</a:t>
            </a:r>
            <a:endParaRPr sz="1500"/>
          </a:p>
          <a:p>
            <a:pPr indent="-323850" lvl="0" marL="457200" rtl="0" algn="l">
              <a:lnSpc>
                <a:spcPct val="200000"/>
              </a:lnSpc>
              <a:spcBef>
                <a:spcPts val="0"/>
              </a:spcBef>
              <a:spcAft>
                <a:spcPts val="0"/>
              </a:spcAft>
              <a:buSzPts val="1500"/>
              <a:buChar char="●"/>
            </a:pPr>
            <a:r>
              <a:rPr lang="en" sz="1500"/>
              <a:t>ReLU activation function</a:t>
            </a:r>
            <a:endParaRPr sz="1500"/>
          </a:p>
          <a:p>
            <a:pPr indent="-323850" lvl="0" marL="457200" rtl="0" algn="l">
              <a:lnSpc>
                <a:spcPct val="200000"/>
              </a:lnSpc>
              <a:spcBef>
                <a:spcPts val="0"/>
              </a:spcBef>
              <a:spcAft>
                <a:spcPts val="0"/>
              </a:spcAft>
              <a:buSzPts val="1500"/>
              <a:buChar char="●"/>
            </a:pPr>
            <a:r>
              <a:rPr lang="en" sz="1500"/>
              <a:t>up-convolutions</a:t>
            </a:r>
            <a:endParaRPr sz="1500"/>
          </a:p>
        </p:txBody>
      </p:sp>
      <p:cxnSp>
        <p:nvCxnSpPr>
          <p:cNvPr id="98" name="Google Shape;98;p18"/>
          <p:cNvCxnSpPr/>
          <p:nvPr/>
        </p:nvCxnSpPr>
        <p:spPr>
          <a:xfrm>
            <a:off x="314350" y="1015950"/>
            <a:ext cx="10113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 details</a:t>
            </a:r>
            <a:endParaRPr/>
          </a:p>
        </p:txBody>
      </p:sp>
      <p:sp>
        <p:nvSpPr>
          <p:cNvPr id="104" name="Google Shape;10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Processed the pixel mask data from the via_region_data.json into pngs for easier and faster comparison to predicted masks. </a:t>
            </a:r>
            <a:endParaRPr/>
          </a:p>
          <a:p>
            <a:pPr indent="-342900" lvl="0" marL="457200" rtl="0" algn="l">
              <a:spcBef>
                <a:spcPts val="0"/>
              </a:spcBef>
              <a:spcAft>
                <a:spcPts val="0"/>
              </a:spcAft>
              <a:buSzPts val="1800"/>
              <a:buChar char="●"/>
            </a:pPr>
            <a:r>
              <a:rPr lang="en"/>
              <a:t>Transform images and masks to a size of 256x256.</a:t>
            </a:r>
            <a:endParaRPr/>
          </a:p>
          <a:p>
            <a:pPr indent="-342900" lvl="0" marL="457200" rtl="0" algn="l">
              <a:spcBef>
                <a:spcPts val="0"/>
              </a:spcBef>
              <a:spcAft>
                <a:spcPts val="0"/>
              </a:spcAft>
              <a:buSzPts val="1800"/>
              <a:buChar char="●"/>
            </a:pPr>
            <a:r>
              <a:rPr lang="en"/>
              <a:t>20 epochs at batch size 8 (takes around 15 minutes)</a:t>
            </a:r>
            <a:endParaRPr/>
          </a:p>
          <a:p>
            <a:pPr indent="-342900" lvl="0" marL="457200" rtl="0" algn="l">
              <a:spcBef>
                <a:spcPts val="0"/>
              </a:spcBef>
              <a:spcAft>
                <a:spcPts val="0"/>
              </a:spcAft>
              <a:buSzPts val="1800"/>
              <a:buChar char="●"/>
            </a:pPr>
            <a:r>
              <a:rPr lang="en"/>
              <a:t>Learning rate: 1e-3</a:t>
            </a:r>
            <a:endParaRPr/>
          </a:p>
          <a:p>
            <a:pPr indent="-342900" lvl="0" marL="457200" rtl="0" algn="l">
              <a:spcBef>
                <a:spcPts val="0"/>
              </a:spcBef>
              <a:spcAft>
                <a:spcPts val="0"/>
              </a:spcAft>
              <a:buSzPts val="1800"/>
              <a:buChar char="●"/>
            </a:pPr>
            <a:r>
              <a:rPr lang="en"/>
              <a:t>Calculates and displays training loss, validation loss, IoU, precision, and F1 in every </a:t>
            </a:r>
            <a:r>
              <a:rPr lang="en"/>
              <a:t>training</a:t>
            </a:r>
            <a:r>
              <a:rPr lang="en"/>
              <a:t> epoch.</a:t>
            </a:r>
            <a:endParaRPr/>
          </a:p>
          <a:p>
            <a:pPr indent="-342900" lvl="0" marL="457200" rtl="0" algn="l">
              <a:spcBef>
                <a:spcPts val="0"/>
              </a:spcBef>
              <a:spcAft>
                <a:spcPts val="0"/>
              </a:spcAft>
              <a:buSzPts val="1800"/>
              <a:buChar char="●"/>
            </a:pPr>
            <a:r>
              <a:rPr lang="en"/>
              <a:t>5-fold evaluation on validation set after training</a:t>
            </a:r>
            <a:br>
              <a:rPr lang="en"/>
            </a:br>
            <a:endParaRPr/>
          </a:p>
        </p:txBody>
      </p:sp>
      <p:cxnSp>
        <p:nvCxnSpPr>
          <p:cNvPr id="105" name="Google Shape;105;p19"/>
          <p:cNvCxnSpPr/>
          <p:nvPr/>
        </p:nvCxnSpPr>
        <p:spPr>
          <a:xfrm flipH="1" rot="10800000">
            <a:off x="309800" y="1016000"/>
            <a:ext cx="2059200" cy="4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Mask R-CNN</a:t>
            </a:r>
            <a:endParaRPr/>
          </a:p>
        </p:txBody>
      </p:sp>
      <p:sp>
        <p:nvSpPr>
          <p:cNvPr id="111" name="Google Shape;11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    </a:t>
            </a:r>
            <a:r>
              <a:rPr b="1" lang="en"/>
              <a:t>Region Proposal (backbone) Network (RPN)</a:t>
            </a:r>
            <a:endParaRPr/>
          </a:p>
          <a:p>
            <a:pPr indent="-342900" lvl="0" marL="457200" rtl="0" algn="l">
              <a:spcBef>
                <a:spcPts val="0"/>
              </a:spcBef>
              <a:spcAft>
                <a:spcPts val="0"/>
              </a:spcAft>
              <a:buSzPts val="1800"/>
              <a:buAutoNum type="arabicPeriod"/>
            </a:pPr>
            <a:r>
              <a:rPr lang="en"/>
              <a:t>    </a:t>
            </a:r>
            <a:r>
              <a:rPr b="1" lang="en"/>
              <a:t>Region of Interest (RoI) Align</a:t>
            </a:r>
            <a:endParaRPr/>
          </a:p>
          <a:p>
            <a:pPr indent="-342900" lvl="0" marL="457200" rtl="0" algn="l">
              <a:spcBef>
                <a:spcPts val="0"/>
              </a:spcBef>
              <a:spcAft>
                <a:spcPts val="0"/>
              </a:spcAft>
              <a:buSzPts val="1800"/>
              <a:buAutoNum type="arabicPeriod"/>
            </a:pPr>
            <a:r>
              <a:rPr lang="en"/>
              <a:t>    </a:t>
            </a:r>
            <a:r>
              <a:rPr b="1" lang="en"/>
              <a:t>Object Classification, Bounding Box Regression, and Instance Segmentation</a:t>
            </a:r>
            <a:endParaRPr/>
          </a:p>
        </p:txBody>
      </p:sp>
      <p:cxnSp>
        <p:nvCxnSpPr>
          <p:cNvPr id="112" name="Google Shape;112;p20"/>
          <p:cNvCxnSpPr/>
          <p:nvPr/>
        </p:nvCxnSpPr>
        <p:spPr>
          <a:xfrm flipH="1" rot="10800000">
            <a:off x="318900" y="1016000"/>
            <a:ext cx="1990800" cy="4500"/>
          </a:xfrm>
          <a:prstGeom prst="straightConnector1">
            <a:avLst/>
          </a:prstGeom>
          <a:noFill/>
          <a:ln cap="flat" cmpd="sng" w="9525">
            <a:solidFill>
              <a:schemeClr val="dk2"/>
            </a:solidFill>
            <a:prstDash val="solid"/>
            <a:round/>
            <a:headEnd len="med" w="med" type="none"/>
            <a:tailEnd len="med" w="med" type="none"/>
          </a:ln>
        </p:spPr>
      </p:cxnSp>
      <p:pic>
        <p:nvPicPr>
          <p:cNvPr id="113" name="Google Shape;113;p20" title="ezgif-7970fd02d2cb48e8.jpg"/>
          <p:cNvPicPr preferRelativeResize="0"/>
          <p:nvPr/>
        </p:nvPicPr>
        <p:blipFill>
          <a:blip r:embed="rId3">
            <a:alphaModFix/>
          </a:blip>
          <a:stretch>
            <a:fillRect/>
          </a:stretch>
        </p:blipFill>
        <p:spPr>
          <a:xfrm>
            <a:off x="2036963" y="2697723"/>
            <a:ext cx="5070076" cy="217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182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U-Net Results</a:t>
            </a:r>
            <a:endParaRPr/>
          </a:p>
        </p:txBody>
      </p:sp>
      <p:pic>
        <p:nvPicPr>
          <p:cNvPr id="119" name="Google Shape;119;p21"/>
          <p:cNvPicPr preferRelativeResize="0"/>
          <p:nvPr/>
        </p:nvPicPr>
        <p:blipFill>
          <a:blip r:embed="rId3">
            <a:alphaModFix/>
          </a:blip>
          <a:stretch>
            <a:fillRect/>
          </a:stretch>
        </p:blipFill>
        <p:spPr>
          <a:xfrm>
            <a:off x="3658201" y="754900"/>
            <a:ext cx="5017425" cy="1672475"/>
          </a:xfrm>
          <a:prstGeom prst="rect">
            <a:avLst/>
          </a:prstGeom>
          <a:noFill/>
          <a:ln>
            <a:noFill/>
          </a:ln>
        </p:spPr>
      </p:pic>
      <p:pic>
        <p:nvPicPr>
          <p:cNvPr id="120" name="Google Shape;120;p21" title="problem.png"/>
          <p:cNvPicPr preferRelativeResize="0"/>
          <p:nvPr/>
        </p:nvPicPr>
        <p:blipFill>
          <a:blip r:embed="rId4">
            <a:alphaModFix/>
          </a:blip>
          <a:stretch>
            <a:fillRect/>
          </a:stretch>
        </p:blipFill>
        <p:spPr>
          <a:xfrm>
            <a:off x="3658200" y="2544533"/>
            <a:ext cx="5017425" cy="1672492"/>
          </a:xfrm>
          <a:prstGeom prst="rect">
            <a:avLst/>
          </a:prstGeom>
          <a:noFill/>
          <a:ln>
            <a:noFill/>
          </a:ln>
        </p:spPr>
      </p:pic>
      <p:sp>
        <p:nvSpPr>
          <p:cNvPr id="121" name="Google Shape;121;p21"/>
          <p:cNvSpPr txBox="1"/>
          <p:nvPr/>
        </p:nvSpPr>
        <p:spPr>
          <a:xfrm>
            <a:off x="382063" y="918425"/>
            <a:ext cx="3441900" cy="24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900">
                <a:solidFill>
                  <a:schemeClr val="accent3"/>
                </a:solidFill>
                <a:latin typeface="Proxima Nova"/>
                <a:ea typeface="Proxima Nova"/>
                <a:cs typeface="Proxima Nova"/>
                <a:sym typeface="Proxima Nova"/>
              </a:rPr>
              <a:t>Key Results:</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b="1" lang="en" sz="1800">
                <a:solidFill>
                  <a:schemeClr val="accent3"/>
                </a:solidFill>
                <a:latin typeface="Proxima Nova"/>
                <a:ea typeface="Proxima Nova"/>
                <a:cs typeface="Proxima Nova"/>
                <a:sym typeface="Proxima Nova"/>
              </a:rPr>
              <a:t>IoU</a:t>
            </a:r>
            <a:r>
              <a:rPr lang="en" sz="1800">
                <a:solidFill>
                  <a:schemeClr val="accent3"/>
                </a:solidFill>
                <a:latin typeface="Proxima Nova"/>
                <a:ea typeface="Proxima Nova"/>
                <a:cs typeface="Proxima Nova"/>
                <a:sym typeface="Proxima Nova"/>
              </a:rPr>
              <a:t>=0.5194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b="1" lang="en" sz="1800">
                <a:solidFill>
                  <a:schemeClr val="accent3"/>
                </a:solidFill>
                <a:latin typeface="Proxima Nova"/>
                <a:ea typeface="Proxima Nova"/>
                <a:cs typeface="Proxima Nova"/>
                <a:sym typeface="Proxima Nova"/>
              </a:rPr>
              <a:t>Precision</a:t>
            </a:r>
            <a:r>
              <a:rPr lang="en" sz="1800">
                <a:solidFill>
                  <a:schemeClr val="accent3"/>
                </a:solidFill>
                <a:latin typeface="Proxima Nova"/>
                <a:ea typeface="Proxima Nova"/>
                <a:cs typeface="Proxima Nova"/>
                <a:sym typeface="Proxima Nova"/>
              </a:rPr>
              <a:t>=0.7747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b="1" lang="en" sz="1800">
                <a:solidFill>
                  <a:schemeClr val="accent3"/>
                </a:solidFill>
                <a:latin typeface="Proxima Nova"/>
                <a:ea typeface="Proxima Nova"/>
                <a:cs typeface="Proxima Nova"/>
                <a:sym typeface="Proxima Nova"/>
              </a:rPr>
              <a:t>Recall</a:t>
            </a:r>
            <a:r>
              <a:rPr lang="en" sz="1800">
                <a:solidFill>
                  <a:schemeClr val="accent3"/>
                </a:solidFill>
                <a:latin typeface="Proxima Nova"/>
                <a:ea typeface="Proxima Nova"/>
                <a:cs typeface="Proxima Nova"/>
                <a:sym typeface="Proxima Nova"/>
              </a:rPr>
              <a:t>=0.5967 </a:t>
            </a:r>
            <a:endParaRPr sz="1800">
              <a:solidFill>
                <a:schemeClr val="accent3"/>
              </a:solidFill>
              <a:latin typeface="Proxima Nova"/>
              <a:ea typeface="Proxima Nova"/>
              <a:cs typeface="Proxima Nova"/>
              <a:sym typeface="Proxima Nova"/>
            </a:endParaRPr>
          </a:p>
          <a:p>
            <a:pPr indent="-342900" lvl="0" marL="457200" rtl="0" algn="l">
              <a:spcBef>
                <a:spcPts val="0"/>
              </a:spcBef>
              <a:spcAft>
                <a:spcPts val="0"/>
              </a:spcAft>
              <a:buClr>
                <a:schemeClr val="accent3"/>
              </a:buClr>
              <a:buSzPts val="1800"/>
              <a:buFont typeface="Proxima Nova"/>
              <a:buChar char="●"/>
            </a:pPr>
            <a:r>
              <a:rPr b="1" lang="en" sz="1800">
                <a:solidFill>
                  <a:schemeClr val="accent3"/>
                </a:solidFill>
                <a:latin typeface="Proxima Nova"/>
                <a:ea typeface="Proxima Nova"/>
                <a:cs typeface="Proxima Nova"/>
                <a:sym typeface="Proxima Nova"/>
              </a:rPr>
              <a:t>F1</a:t>
            </a:r>
            <a:r>
              <a:rPr lang="en" sz="1800">
                <a:solidFill>
                  <a:schemeClr val="accent3"/>
                </a:solidFill>
                <a:latin typeface="Proxima Nova"/>
                <a:ea typeface="Proxima Nova"/>
                <a:cs typeface="Proxima Nova"/>
                <a:sym typeface="Proxima Nova"/>
              </a:rPr>
              <a:t>=0.6439</a:t>
            </a:r>
            <a:endParaRPr sz="1800">
              <a:solidFill>
                <a:schemeClr val="accent3"/>
              </a:solidFill>
              <a:latin typeface="Proxima Nova"/>
              <a:ea typeface="Proxima Nova"/>
              <a:cs typeface="Proxima Nova"/>
              <a:sym typeface="Proxima Nova"/>
            </a:endParaRPr>
          </a:p>
        </p:txBody>
      </p:sp>
      <p:pic>
        <p:nvPicPr>
          <p:cNvPr id="122" name="Google Shape;122;p21"/>
          <p:cNvPicPr preferRelativeResize="0"/>
          <p:nvPr/>
        </p:nvPicPr>
        <p:blipFill>
          <a:blip r:embed="rId5">
            <a:alphaModFix/>
          </a:blip>
          <a:stretch>
            <a:fillRect/>
          </a:stretch>
        </p:blipFill>
        <p:spPr>
          <a:xfrm>
            <a:off x="382075" y="2612750"/>
            <a:ext cx="2706074" cy="2303176"/>
          </a:xfrm>
          <a:prstGeom prst="rect">
            <a:avLst/>
          </a:prstGeom>
          <a:noFill/>
          <a:ln>
            <a:noFill/>
          </a:ln>
        </p:spPr>
      </p:pic>
      <p:cxnSp>
        <p:nvCxnSpPr>
          <p:cNvPr id="123" name="Google Shape;123;p21"/>
          <p:cNvCxnSpPr/>
          <p:nvPr/>
        </p:nvCxnSpPr>
        <p:spPr>
          <a:xfrm>
            <a:off x="309800" y="756275"/>
            <a:ext cx="2177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Mask R-CNN Results</a:t>
            </a:r>
            <a:endParaRPr/>
          </a:p>
        </p:txBody>
      </p:sp>
      <p:sp>
        <p:nvSpPr>
          <p:cNvPr id="129" name="Google Shape;12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900"/>
              <a:t>Key</a:t>
            </a:r>
            <a:r>
              <a:rPr b="1" lang="en" sz="1900"/>
              <a:t> Results:</a:t>
            </a:r>
            <a:endParaRPr/>
          </a:p>
          <a:p>
            <a:pPr indent="-342900" lvl="0" marL="457200" rtl="0" algn="l">
              <a:lnSpc>
                <a:spcPct val="100000"/>
              </a:lnSpc>
              <a:spcBef>
                <a:spcPts val="0"/>
              </a:spcBef>
              <a:spcAft>
                <a:spcPts val="0"/>
              </a:spcAft>
              <a:buClr>
                <a:schemeClr val="accent3"/>
              </a:buClr>
              <a:buSzPts val="1800"/>
              <a:buFont typeface="Proxima Nova"/>
              <a:buChar char="●"/>
            </a:pPr>
            <a:r>
              <a:rPr b="1" lang="en"/>
              <a:t>IoU</a:t>
            </a:r>
            <a:r>
              <a:rPr lang="en"/>
              <a:t>=0.3015 </a:t>
            </a:r>
            <a:endParaRPr/>
          </a:p>
          <a:p>
            <a:pPr indent="-342900" lvl="0" marL="457200" rtl="0" algn="l">
              <a:lnSpc>
                <a:spcPct val="100000"/>
              </a:lnSpc>
              <a:spcBef>
                <a:spcPts val="0"/>
              </a:spcBef>
              <a:spcAft>
                <a:spcPts val="0"/>
              </a:spcAft>
              <a:buClr>
                <a:schemeClr val="accent3"/>
              </a:buClr>
              <a:buSzPts val="1800"/>
              <a:buFont typeface="Proxima Nova"/>
              <a:buChar char="●"/>
            </a:pPr>
            <a:r>
              <a:rPr b="1" lang="en"/>
              <a:t>Precision</a:t>
            </a:r>
            <a:r>
              <a:rPr lang="en"/>
              <a:t>=0.3712 </a:t>
            </a:r>
            <a:endParaRPr/>
          </a:p>
          <a:p>
            <a:pPr indent="-342900" lvl="0" marL="457200" rtl="0" algn="l">
              <a:lnSpc>
                <a:spcPct val="100000"/>
              </a:lnSpc>
              <a:spcBef>
                <a:spcPts val="0"/>
              </a:spcBef>
              <a:spcAft>
                <a:spcPts val="0"/>
              </a:spcAft>
              <a:buClr>
                <a:schemeClr val="accent3"/>
              </a:buClr>
              <a:buSzPts val="1800"/>
              <a:buFont typeface="Proxima Nova"/>
              <a:buChar char="●"/>
            </a:pPr>
            <a:r>
              <a:rPr b="1" lang="en"/>
              <a:t>Recall</a:t>
            </a:r>
            <a:r>
              <a:rPr lang="en"/>
              <a:t>=0.2632 </a:t>
            </a:r>
            <a:endParaRPr/>
          </a:p>
          <a:p>
            <a:pPr indent="-342900" lvl="0" marL="457200" rtl="0" algn="l">
              <a:lnSpc>
                <a:spcPct val="100000"/>
              </a:lnSpc>
              <a:spcBef>
                <a:spcPts val="0"/>
              </a:spcBef>
              <a:spcAft>
                <a:spcPts val="0"/>
              </a:spcAft>
              <a:buClr>
                <a:schemeClr val="accent3"/>
              </a:buClr>
              <a:buSzPts val="1800"/>
              <a:buFont typeface="Proxima Nova"/>
              <a:buChar char="●"/>
            </a:pPr>
            <a:r>
              <a:rPr b="1" lang="en"/>
              <a:t>F1</a:t>
            </a:r>
            <a:r>
              <a:rPr lang="en"/>
              <a:t>=0.3080</a:t>
            </a:r>
            <a:endParaRPr sz="2000"/>
          </a:p>
        </p:txBody>
      </p:sp>
      <p:pic>
        <p:nvPicPr>
          <p:cNvPr id="130" name="Google Shape;130;p22"/>
          <p:cNvPicPr preferRelativeResize="0"/>
          <p:nvPr/>
        </p:nvPicPr>
        <p:blipFill>
          <a:blip r:embed="rId3">
            <a:alphaModFix/>
          </a:blip>
          <a:stretch>
            <a:fillRect/>
          </a:stretch>
        </p:blipFill>
        <p:spPr>
          <a:xfrm>
            <a:off x="311688" y="3339038"/>
            <a:ext cx="3019425" cy="914400"/>
          </a:xfrm>
          <a:prstGeom prst="rect">
            <a:avLst/>
          </a:prstGeom>
          <a:noFill/>
          <a:ln>
            <a:noFill/>
          </a:ln>
        </p:spPr>
      </p:pic>
      <p:pic>
        <p:nvPicPr>
          <p:cNvPr id="131" name="Google Shape;131;p22"/>
          <p:cNvPicPr preferRelativeResize="0"/>
          <p:nvPr/>
        </p:nvPicPr>
        <p:blipFill rotWithShape="1">
          <a:blip r:embed="rId4">
            <a:alphaModFix/>
          </a:blip>
          <a:srcRect b="23043" l="0" r="0" t="22597"/>
          <a:stretch/>
        </p:blipFill>
        <p:spPr>
          <a:xfrm>
            <a:off x="3759700" y="909088"/>
            <a:ext cx="2410136" cy="1588951"/>
          </a:xfrm>
          <a:prstGeom prst="rect">
            <a:avLst/>
          </a:prstGeom>
          <a:noFill/>
          <a:ln>
            <a:noFill/>
          </a:ln>
        </p:spPr>
      </p:pic>
      <p:pic>
        <p:nvPicPr>
          <p:cNvPr id="132" name="Google Shape;132;p22"/>
          <p:cNvPicPr preferRelativeResize="0"/>
          <p:nvPr/>
        </p:nvPicPr>
        <p:blipFill rotWithShape="1">
          <a:blip r:embed="rId5">
            <a:alphaModFix/>
          </a:blip>
          <a:srcRect b="22109" l="0" r="0" t="22535"/>
          <a:stretch/>
        </p:blipFill>
        <p:spPr>
          <a:xfrm>
            <a:off x="3775650" y="3038854"/>
            <a:ext cx="2394175" cy="1518995"/>
          </a:xfrm>
          <a:prstGeom prst="rect">
            <a:avLst/>
          </a:prstGeom>
          <a:noFill/>
          <a:ln>
            <a:noFill/>
          </a:ln>
        </p:spPr>
      </p:pic>
      <p:pic>
        <p:nvPicPr>
          <p:cNvPr id="133" name="Google Shape;133;p22"/>
          <p:cNvPicPr preferRelativeResize="0"/>
          <p:nvPr/>
        </p:nvPicPr>
        <p:blipFill rotWithShape="1">
          <a:blip r:embed="rId6">
            <a:alphaModFix/>
          </a:blip>
          <a:srcRect b="22331" l="2731" r="2427" t="23133"/>
          <a:stretch/>
        </p:blipFill>
        <p:spPr>
          <a:xfrm>
            <a:off x="6298450" y="909088"/>
            <a:ext cx="2601851" cy="1588951"/>
          </a:xfrm>
          <a:prstGeom prst="rect">
            <a:avLst/>
          </a:prstGeom>
          <a:noFill/>
          <a:ln>
            <a:noFill/>
          </a:ln>
        </p:spPr>
      </p:pic>
      <p:pic>
        <p:nvPicPr>
          <p:cNvPr id="134" name="Google Shape;134;p22"/>
          <p:cNvPicPr preferRelativeResize="0"/>
          <p:nvPr/>
        </p:nvPicPr>
        <p:blipFill rotWithShape="1">
          <a:blip r:embed="rId7">
            <a:alphaModFix/>
          </a:blip>
          <a:srcRect b="22618" l="1770" r="1461" t="22309"/>
          <a:stretch/>
        </p:blipFill>
        <p:spPr>
          <a:xfrm>
            <a:off x="6298450" y="3038850"/>
            <a:ext cx="2601850" cy="1532126"/>
          </a:xfrm>
          <a:prstGeom prst="rect">
            <a:avLst/>
          </a:prstGeom>
          <a:noFill/>
          <a:ln>
            <a:noFill/>
          </a:ln>
        </p:spPr>
      </p:pic>
      <p:sp>
        <p:nvSpPr>
          <p:cNvPr id="135" name="Google Shape;135;p22"/>
          <p:cNvSpPr txBox="1"/>
          <p:nvPr/>
        </p:nvSpPr>
        <p:spPr>
          <a:xfrm>
            <a:off x="3775650" y="445025"/>
            <a:ext cx="24966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3"/>
                </a:solidFill>
                <a:latin typeface="Proxima Nova"/>
                <a:ea typeface="Proxima Nova"/>
                <a:cs typeface="Proxima Nova"/>
                <a:sym typeface="Proxima Nova"/>
              </a:rPr>
              <a:t>Actual bounding boxes:</a:t>
            </a:r>
            <a:endParaRPr b="1" sz="1600">
              <a:solidFill>
                <a:schemeClr val="accent3"/>
              </a:solidFill>
              <a:latin typeface="Proxima Nova"/>
              <a:ea typeface="Proxima Nova"/>
              <a:cs typeface="Proxima Nova"/>
              <a:sym typeface="Proxima Nova"/>
            </a:endParaRPr>
          </a:p>
        </p:txBody>
      </p:sp>
      <p:sp>
        <p:nvSpPr>
          <p:cNvPr id="136" name="Google Shape;136;p22"/>
          <p:cNvSpPr txBox="1"/>
          <p:nvPr/>
        </p:nvSpPr>
        <p:spPr>
          <a:xfrm>
            <a:off x="3774550" y="2574813"/>
            <a:ext cx="27243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accent3"/>
                </a:solidFill>
                <a:latin typeface="Proxima Nova"/>
                <a:ea typeface="Proxima Nova"/>
                <a:cs typeface="Proxima Nova"/>
                <a:sym typeface="Proxima Nova"/>
              </a:rPr>
              <a:t>Predicted bounding boxes</a:t>
            </a:r>
            <a:r>
              <a:rPr b="1" lang="en" sz="1600">
                <a:solidFill>
                  <a:schemeClr val="accent3"/>
                </a:solidFill>
                <a:latin typeface="Proxima Nova"/>
                <a:ea typeface="Proxima Nova"/>
                <a:cs typeface="Proxima Nova"/>
                <a:sym typeface="Proxima Nova"/>
              </a:rPr>
              <a:t>:</a:t>
            </a:r>
            <a:endParaRPr b="1" sz="1600">
              <a:solidFill>
                <a:schemeClr val="accent3"/>
              </a:solidFill>
              <a:latin typeface="Proxima Nova"/>
              <a:ea typeface="Proxima Nova"/>
              <a:cs typeface="Proxima Nova"/>
              <a:sym typeface="Proxima Nova"/>
            </a:endParaRPr>
          </a:p>
        </p:txBody>
      </p:sp>
      <p:cxnSp>
        <p:nvCxnSpPr>
          <p:cNvPr id="137" name="Google Shape;137;p22"/>
          <p:cNvCxnSpPr/>
          <p:nvPr/>
        </p:nvCxnSpPr>
        <p:spPr>
          <a:xfrm>
            <a:off x="318900" y="1011400"/>
            <a:ext cx="3143400" cy="4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Comparisons</a:t>
            </a:r>
            <a:endParaRPr/>
          </a:p>
        </p:txBody>
      </p:sp>
      <p:sp>
        <p:nvSpPr>
          <p:cNvPr id="143" name="Google Shape;14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U-Net:</a:t>
            </a:r>
            <a:endParaRPr b="1" sz="1800"/>
          </a:p>
          <a:p>
            <a:pPr indent="-330200" lvl="0" marL="457200" rtl="0" algn="l">
              <a:lnSpc>
                <a:spcPct val="100000"/>
              </a:lnSpc>
              <a:spcBef>
                <a:spcPts val="1200"/>
              </a:spcBef>
              <a:spcAft>
                <a:spcPts val="0"/>
              </a:spcAft>
              <a:buSzPts val="1600"/>
              <a:buChar char="●"/>
            </a:pPr>
            <a:r>
              <a:rPr b="1" lang="en" sz="1600"/>
              <a:t>IoU</a:t>
            </a:r>
            <a:r>
              <a:rPr lang="en" sz="1600"/>
              <a:t> = 0.5194 </a:t>
            </a:r>
            <a:endParaRPr sz="1600"/>
          </a:p>
          <a:p>
            <a:pPr indent="-330200" lvl="0" marL="457200" rtl="0" algn="l">
              <a:lnSpc>
                <a:spcPct val="100000"/>
              </a:lnSpc>
              <a:spcBef>
                <a:spcPts val="0"/>
              </a:spcBef>
              <a:spcAft>
                <a:spcPts val="0"/>
              </a:spcAft>
              <a:buSzPts val="1600"/>
              <a:buChar char="●"/>
            </a:pPr>
            <a:r>
              <a:rPr b="1" lang="en" sz="1600"/>
              <a:t>Precision</a:t>
            </a:r>
            <a:r>
              <a:rPr lang="en" sz="1600"/>
              <a:t> = 0.7747 </a:t>
            </a:r>
            <a:endParaRPr sz="1600"/>
          </a:p>
          <a:p>
            <a:pPr indent="-330200" lvl="0" marL="457200" rtl="0" algn="l">
              <a:lnSpc>
                <a:spcPct val="100000"/>
              </a:lnSpc>
              <a:spcBef>
                <a:spcPts val="0"/>
              </a:spcBef>
              <a:spcAft>
                <a:spcPts val="0"/>
              </a:spcAft>
              <a:buSzPts val="1600"/>
              <a:buChar char="●"/>
            </a:pPr>
            <a:r>
              <a:rPr b="1" lang="en" sz="1600"/>
              <a:t>Recall</a:t>
            </a:r>
            <a:r>
              <a:rPr lang="en" sz="1600"/>
              <a:t> = 0.5967 </a:t>
            </a:r>
            <a:endParaRPr sz="1600"/>
          </a:p>
          <a:p>
            <a:pPr indent="-330200" lvl="0" marL="457200" rtl="0" algn="l">
              <a:lnSpc>
                <a:spcPct val="100000"/>
              </a:lnSpc>
              <a:spcBef>
                <a:spcPts val="0"/>
              </a:spcBef>
              <a:spcAft>
                <a:spcPts val="0"/>
              </a:spcAft>
              <a:buSzPts val="1600"/>
              <a:buChar char="●"/>
            </a:pPr>
            <a:r>
              <a:rPr b="1" lang="en" sz="1600"/>
              <a:t>F1</a:t>
            </a:r>
            <a:r>
              <a:rPr lang="en" sz="1600"/>
              <a:t> = 0.6439</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lang="en" sz="1600"/>
              <a:t>Consistently performed better</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b="1" lang="en" sz="1600"/>
              <a:t>Fairly high accuracy</a:t>
            </a:r>
            <a:r>
              <a:rPr lang="en" sz="1600"/>
              <a:t> - more false negatives</a:t>
            </a:r>
            <a:endParaRPr sz="1600"/>
          </a:p>
          <a:p>
            <a:pPr indent="0" lvl="0" marL="0" rtl="0" algn="l">
              <a:lnSpc>
                <a:spcPct val="100000"/>
              </a:lnSpc>
              <a:spcBef>
                <a:spcPts val="0"/>
              </a:spcBef>
              <a:spcAft>
                <a:spcPts val="0"/>
              </a:spcAft>
              <a:buNone/>
            </a:pPr>
            <a:r>
              <a:rPr lang="en" sz="1600"/>
              <a:t>than false positives</a:t>
            </a:r>
            <a:endParaRPr sz="1600"/>
          </a:p>
        </p:txBody>
      </p:sp>
      <p:sp>
        <p:nvSpPr>
          <p:cNvPr id="144" name="Google Shape;144;p23"/>
          <p:cNvSpPr txBox="1"/>
          <p:nvPr>
            <p:ph idx="4294967295"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Mask R-CNN:</a:t>
            </a:r>
            <a:endParaRPr b="1" sz="1800"/>
          </a:p>
          <a:p>
            <a:pPr indent="-330200" lvl="0" marL="457200" rtl="0" algn="l">
              <a:lnSpc>
                <a:spcPct val="100000"/>
              </a:lnSpc>
              <a:spcBef>
                <a:spcPts val="1200"/>
              </a:spcBef>
              <a:spcAft>
                <a:spcPts val="0"/>
              </a:spcAft>
              <a:buClr>
                <a:schemeClr val="accent3"/>
              </a:buClr>
              <a:buSzPts val="1600"/>
              <a:buFont typeface="Proxima Nova"/>
              <a:buChar char="●"/>
            </a:pPr>
            <a:r>
              <a:rPr b="1" lang="en" sz="1600"/>
              <a:t>IoU</a:t>
            </a:r>
            <a:r>
              <a:rPr lang="en" sz="1600"/>
              <a:t> = 0.3015 </a:t>
            </a:r>
            <a:endParaRPr sz="1600"/>
          </a:p>
          <a:p>
            <a:pPr indent="-330200" lvl="0" marL="457200" rtl="0" algn="l">
              <a:lnSpc>
                <a:spcPct val="100000"/>
              </a:lnSpc>
              <a:spcBef>
                <a:spcPts val="0"/>
              </a:spcBef>
              <a:spcAft>
                <a:spcPts val="0"/>
              </a:spcAft>
              <a:buClr>
                <a:schemeClr val="accent3"/>
              </a:buClr>
              <a:buSzPts val="1600"/>
              <a:buFont typeface="Proxima Nova"/>
              <a:buChar char="●"/>
            </a:pPr>
            <a:r>
              <a:rPr b="1" lang="en" sz="1600"/>
              <a:t>Precision</a:t>
            </a:r>
            <a:r>
              <a:rPr lang="en" sz="1600"/>
              <a:t> = 0.3712 </a:t>
            </a:r>
            <a:endParaRPr sz="1600"/>
          </a:p>
          <a:p>
            <a:pPr indent="-330200" lvl="0" marL="457200" rtl="0" algn="l">
              <a:lnSpc>
                <a:spcPct val="100000"/>
              </a:lnSpc>
              <a:spcBef>
                <a:spcPts val="0"/>
              </a:spcBef>
              <a:spcAft>
                <a:spcPts val="0"/>
              </a:spcAft>
              <a:buClr>
                <a:schemeClr val="accent3"/>
              </a:buClr>
              <a:buSzPts val="1600"/>
              <a:buFont typeface="Proxima Nova"/>
              <a:buChar char="●"/>
            </a:pPr>
            <a:r>
              <a:rPr b="1" lang="en" sz="1600"/>
              <a:t>Recall</a:t>
            </a:r>
            <a:r>
              <a:rPr lang="en" sz="1600"/>
              <a:t> = 0.2632 </a:t>
            </a:r>
            <a:endParaRPr sz="1600"/>
          </a:p>
          <a:p>
            <a:pPr indent="-330200" lvl="0" marL="457200" rtl="0" algn="l">
              <a:lnSpc>
                <a:spcPct val="100000"/>
              </a:lnSpc>
              <a:spcBef>
                <a:spcPts val="0"/>
              </a:spcBef>
              <a:spcAft>
                <a:spcPts val="0"/>
              </a:spcAft>
              <a:buClr>
                <a:schemeClr val="accent3"/>
              </a:buClr>
              <a:buSzPts val="1600"/>
              <a:buFont typeface="Proxima Nova"/>
              <a:buChar char="●"/>
            </a:pPr>
            <a:r>
              <a:rPr b="1" lang="en" sz="1600"/>
              <a:t>F1</a:t>
            </a:r>
            <a:r>
              <a:rPr lang="en" sz="1600"/>
              <a:t> = 0.3080</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lang="en" sz="1600"/>
              <a:t>Consistently performed worse</a:t>
            </a:r>
            <a:endParaRPr sz="1600"/>
          </a:p>
          <a:p>
            <a:pPr indent="0" lvl="0" marL="0" rtl="0" algn="l">
              <a:lnSpc>
                <a:spcPct val="100000"/>
              </a:lnSpc>
              <a:spcBef>
                <a:spcPts val="0"/>
              </a:spcBef>
              <a:spcAft>
                <a:spcPts val="0"/>
              </a:spcAft>
              <a:buNone/>
            </a:pPr>
            <a:r>
              <a:t/>
            </a:r>
            <a:endParaRPr sz="1600"/>
          </a:p>
          <a:p>
            <a:pPr indent="0" lvl="0" marL="0" rtl="0" algn="l">
              <a:lnSpc>
                <a:spcPct val="100000"/>
              </a:lnSpc>
              <a:spcBef>
                <a:spcPts val="0"/>
              </a:spcBef>
              <a:spcAft>
                <a:spcPts val="0"/>
              </a:spcAft>
              <a:buNone/>
            </a:pPr>
            <a:r>
              <a:rPr b="1" lang="en" sz="1600"/>
              <a:t>Low accuracy</a:t>
            </a:r>
            <a:r>
              <a:rPr lang="en" sz="1600"/>
              <a:t> - many false positives and negatives</a:t>
            </a:r>
            <a:endParaRPr sz="1600"/>
          </a:p>
        </p:txBody>
      </p:sp>
      <p:cxnSp>
        <p:nvCxnSpPr>
          <p:cNvPr id="145" name="Google Shape;145;p23"/>
          <p:cNvCxnSpPr/>
          <p:nvPr/>
        </p:nvCxnSpPr>
        <p:spPr>
          <a:xfrm flipH="1" rot="10800000">
            <a:off x="323450" y="1016050"/>
            <a:ext cx="2054700" cy="9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Interpretation and Limitations</a:t>
            </a:r>
            <a:endParaRPr/>
          </a:p>
        </p:txBody>
      </p:sp>
      <p:sp>
        <p:nvSpPr>
          <p:cNvPr id="151" name="Google Shape;151;p24"/>
          <p:cNvSpPr txBox="1"/>
          <p:nvPr>
            <p:ph idx="1" type="body"/>
          </p:nvPr>
        </p:nvSpPr>
        <p:spPr>
          <a:xfrm>
            <a:off x="311700" y="1017725"/>
            <a:ext cx="8520600" cy="3756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Both models need improvement</a:t>
            </a:r>
            <a:endParaRPr/>
          </a:p>
          <a:p>
            <a:pPr indent="0" lvl="0" marL="0" rtl="0" algn="l">
              <a:spcBef>
                <a:spcPts val="1200"/>
              </a:spcBef>
              <a:spcAft>
                <a:spcPts val="0"/>
              </a:spcAft>
              <a:buNone/>
            </a:pPr>
            <a:r>
              <a:rPr b="1" lang="en"/>
              <a:t>U-Net:</a:t>
            </a:r>
            <a:endParaRPr b="1"/>
          </a:p>
          <a:p>
            <a:pPr indent="-317500" lvl="0" marL="457200" rtl="0" algn="l">
              <a:lnSpc>
                <a:spcPct val="115000"/>
              </a:lnSpc>
              <a:spcBef>
                <a:spcPts val="1200"/>
              </a:spcBef>
              <a:spcAft>
                <a:spcPts val="0"/>
              </a:spcAft>
              <a:buSzPts val="1400"/>
              <a:buChar char="●"/>
            </a:pPr>
            <a:r>
              <a:rPr b="1" lang="en" sz="1400"/>
              <a:t>Low Recall</a:t>
            </a:r>
            <a:r>
              <a:rPr lang="en" sz="1400"/>
              <a:t> - misses small and distant signs</a:t>
            </a:r>
            <a:endParaRPr sz="1400"/>
          </a:p>
          <a:p>
            <a:pPr indent="-317500" lvl="1" marL="914400" rtl="0" algn="l">
              <a:lnSpc>
                <a:spcPct val="115000"/>
              </a:lnSpc>
              <a:spcBef>
                <a:spcPts val="0"/>
              </a:spcBef>
              <a:spcAft>
                <a:spcPts val="0"/>
              </a:spcAft>
              <a:buSzPts val="1400"/>
              <a:buChar char="○"/>
            </a:pPr>
            <a:r>
              <a:rPr lang="en"/>
              <a:t>BCE Loss - predicts everything as background, low loss early in training</a:t>
            </a:r>
            <a:endParaRPr/>
          </a:p>
          <a:p>
            <a:pPr indent="-317500" lvl="1" marL="914400" rtl="0" algn="l">
              <a:lnSpc>
                <a:spcPct val="115000"/>
              </a:lnSpc>
              <a:spcBef>
                <a:spcPts val="0"/>
              </a:spcBef>
              <a:spcAft>
                <a:spcPts val="0"/>
              </a:spcAft>
              <a:buSzPts val="1400"/>
              <a:buChar char="○"/>
            </a:pPr>
            <a:r>
              <a:rPr lang="en"/>
              <a:t>Downsampling - may </a:t>
            </a:r>
            <a:r>
              <a:rPr lang="en"/>
              <a:t>impact</a:t>
            </a:r>
            <a:r>
              <a:rPr lang="en"/>
              <a:t> recall</a:t>
            </a:r>
            <a:endParaRPr/>
          </a:p>
          <a:p>
            <a:pPr indent="-317500" lvl="0" marL="457200" rtl="0" algn="l">
              <a:lnSpc>
                <a:spcPct val="115000"/>
              </a:lnSpc>
              <a:spcBef>
                <a:spcPts val="0"/>
              </a:spcBef>
              <a:spcAft>
                <a:spcPts val="0"/>
              </a:spcAft>
              <a:buSzPts val="1400"/>
              <a:buChar char="●"/>
            </a:pPr>
            <a:r>
              <a:rPr lang="en" sz="1400"/>
              <a:t>Performance improved, then worsened - </a:t>
            </a:r>
            <a:r>
              <a:rPr b="1" lang="en" sz="1400"/>
              <a:t>possibly overfitting</a:t>
            </a:r>
            <a:endParaRPr b="1" sz="1400"/>
          </a:p>
          <a:p>
            <a:pPr indent="0" lvl="0" marL="0" rtl="0" algn="l">
              <a:spcBef>
                <a:spcPts val="1200"/>
              </a:spcBef>
              <a:spcAft>
                <a:spcPts val="0"/>
              </a:spcAft>
              <a:buNone/>
            </a:pPr>
            <a:r>
              <a:rPr b="1" lang="en"/>
              <a:t>Mask R-CNN:</a:t>
            </a:r>
            <a:endParaRPr b="1"/>
          </a:p>
          <a:p>
            <a:pPr indent="-317500" lvl="0" marL="457200" rtl="0" algn="l">
              <a:spcBef>
                <a:spcPts val="1200"/>
              </a:spcBef>
              <a:spcAft>
                <a:spcPts val="0"/>
              </a:spcAft>
              <a:buSzPts val="1400"/>
              <a:buChar char="●"/>
            </a:pPr>
            <a:r>
              <a:rPr b="1" lang="en" sz="1400"/>
              <a:t>Poor performance overall</a:t>
            </a:r>
            <a:r>
              <a:rPr lang="en" sz="1400"/>
              <a:t> - needs hyperparameter tuning</a:t>
            </a:r>
            <a:endParaRPr sz="1400"/>
          </a:p>
          <a:p>
            <a:pPr indent="0" lvl="0" marL="0" rtl="0" algn="l">
              <a:spcBef>
                <a:spcPts val="1200"/>
              </a:spcBef>
              <a:spcAft>
                <a:spcPts val="0"/>
              </a:spcAft>
              <a:buNone/>
            </a:pPr>
            <a:r>
              <a:rPr b="1" lang="en"/>
              <a:t>Dataset limitations:</a:t>
            </a:r>
            <a:endParaRPr b="1"/>
          </a:p>
          <a:p>
            <a:pPr indent="-317500" lvl="0" marL="457200" rtl="0" algn="l">
              <a:spcBef>
                <a:spcPts val="1200"/>
              </a:spcBef>
              <a:spcAft>
                <a:spcPts val="0"/>
              </a:spcAft>
              <a:buSzPts val="1400"/>
              <a:buChar char="●"/>
            </a:pPr>
            <a:r>
              <a:rPr lang="en" sz="1400"/>
              <a:t>Signposts included in masks/bounding boxes - may confuse models</a:t>
            </a:r>
            <a:endParaRPr sz="1400"/>
          </a:p>
        </p:txBody>
      </p:sp>
      <p:cxnSp>
        <p:nvCxnSpPr>
          <p:cNvPr id="152" name="Google Shape;152;p24"/>
          <p:cNvCxnSpPr/>
          <p:nvPr/>
        </p:nvCxnSpPr>
        <p:spPr>
          <a:xfrm flipH="1" rot="10800000">
            <a:off x="346250" y="1017850"/>
            <a:ext cx="4225800" cy="7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Acknowledgements</a:t>
            </a:r>
            <a:endParaRPr/>
          </a:p>
        </p:txBody>
      </p:sp>
      <p:sp>
        <p:nvSpPr>
          <p:cNvPr id="158" name="Google Shape;15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300"/>
              <a:t>Rob Mulla. (2023, October 5). Build Your First Pytorch Model In Minutes! [Tutorial + Code] [Video]. YouTube.</a:t>
            </a:r>
            <a:br>
              <a:rPr lang="en" sz="1300"/>
            </a:br>
            <a:r>
              <a:rPr lang="en" sz="1300"/>
              <a:t>	</a:t>
            </a:r>
            <a:r>
              <a:rPr lang="en" sz="1300" u="sng">
                <a:solidFill>
                  <a:schemeClr val="hlink"/>
                </a:solidFill>
                <a:hlinkClick r:id="rId3"/>
              </a:rPr>
              <a:t>https://www.youtube.com/watch?v=tHL5STNJKag</a:t>
            </a:r>
            <a:br>
              <a:rPr lang="en" sz="1300"/>
            </a:br>
            <a:r>
              <a:rPr lang="en" sz="1300"/>
              <a:t>Luke Ditria. (2023, November 13). U-net Image Segmentation the basics (From Scratch!): Pytorch Deep Learning</a:t>
            </a:r>
            <a:br>
              <a:rPr lang="en" sz="1300"/>
            </a:br>
            <a:r>
              <a:rPr lang="en" sz="1300"/>
              <a:t>	Tutorial [Video]. Youtube. </a:t>
            </a:r>
            <a:r>
              <a:rPr lang="en" sz="1300" u="sng">
                <a:solidFill>
                  <a:schemeClr val="hlink"/>
                </a:solidFill>
                <a:hlinkClick r:id="rId4"/>
              </a:rPr>
              <a:t>https://www.youtube.com/watch?v=ZoOuNv8TXLs</a:t>
            </a:r>
            <a:br>
              <a:rPr lang="en" sz="1300"/>
            </a:br>
            <a:r>
              <a:rPr lang="en" sz="1300"/>
              <a:t>Viacheslav Shalamov and 1 collaborator. Russian road signs segmentation dataset. Kaggle.</a:t>
            </a:r>
            <a:br>
              <a:rPr lang="en" sz="1300"/>
            </a:br>
            <a:r>
              <a:rPr lang="en" sz="1300"/>
              <a:t>	</a:t>
            </a:r>
            <a:r>
              <a:rPr lang="en" sz="1300" u="sng">
                <a:solidFill>
                  <a:schemeClr val="hlink"/>
                </a:solidFill>
                <a:hlinkClick r:id="rId5"/>
              </a:rPr>
              <a:t>https://www.kaggle.com/datasets/viacheslavshalamov/russian-road-signs-segmentation-dataset</a:t>
            </a:r>
            <a:r>
              <a:rPr lang="en" sz="1300"/>
              <a:t> </a:t>
            </a:r>
            <a:endParaRPr sz="1300"/>
          </a:p>
          <a:p>
            <a:pPr indent="0" lvl="0" marL="0" rtl="0" algn="l">
              <a:spcBef>
                <a:spcPts val="1200"/>
              </a:spcBef>
              <a:spcAft>
                <a:spcPts val="0"/>
              </a:spcAft>
              <a:buNone/>
            </a:pPr>
            <a:r>
              <a:rPr lang="en" sz="1300"/>
              <a:t>Rosebrock, Adrian. “Intersection over Union (IOU) for Object Detection.” PyImageSearch, 3 Jan. 2025, </a:t>
            </a:r>
            <a:r>
              <a:rPr lang="en" sz="1300" u="sng">
                <a:solidFill>
                  <a:schemeClr val="hlink"/>
                </a:solidFill>
                <a:hlinkClick r:id="rId6"/>
              </a:rPr>
              <a:t>pyimagesearch.com/2016/11/07/intersection-over-union-iou-for-object-detection/</a:t>
            </a:r>
            <a:r>
              <a:rPr lang="en" sz="1300"/>
              <a:t>. </a:t>
            </a:r>
            <a:endParaRPr sz="1300"/>
          </a:p>
          <a:p>
            <a:pPr indent="0" lvl="0" marL="0" rtl="0" algn="l">
              <a:spcBef>
                <a:spcPts val="1200"/>
              </a:spcBef>
              <a:spcAft>
                <a:spcPts val="0"/>
              </a:spcAft>
              <a:buNone/>
            </a:pPr>
            <a:r>
              <a:rPr lang="en" sz="1300"/>
              <a:t>“How Mask R-CNN Works?: Arcgis API for Python: Esri Developer.” ArcGIS API for Python | Esri Developer, </a:t>
            </a:r>
            <a:r>
              <a:rPr lang="en" sz="1300" u="sng">
                <a:solidFill>
                  <a:schemeClr val="hlink"/>
                </a:solidFill>
                <a:hlinkClick r:id="rId7"/>
              </a:rPr>
              <a:t>developers.arcgis.com/python/latest/guide/how-maskrcnn-works/</a:t>
            </a:r>
            <a:r>
              <a:rPr lang="en" sz="1300"/>
              <a:t>. </a:t>
            </a:r>
            <a:endParaRPr sz="1300"/>
          </a:p>
          <a:p>
            <a:pPr indent="0" lvl="0" marL="0" rtl="0" algn="l">
              <a:spcBef>
                <a:spcPts val="1200"/>
              </a:spcBef>
              <a:spcAft>
                <a:spcPts val="1200"/>
              </a:spcAft>
              <a:buNone/>
            </a:pPr>
            <a:r>
              <a:rPr lang="en" sz="1300"/>
              <a:t>P., Petru. “What Is Mask R-CNN? The Ultimate Guide.” Roboflow Blog, Roboflow Blog, 11 Nov. 2025, </a:t>
            </a:r>
            <a:r>
              <a:rPr lang="en" sz="1300" u="sng">
                <a:solidFill>
                  <a:schemeClr val="hlink"/>
                </a:solidFill>
                <a:hlinkClick r:id="rId8"/>
              </a:rPr>
              <a:t>blog.roboflow.com/mask-rcnn/</a:t>
            </a:r>
            <a:r>
              <a:rPr lang="en" sz="1300"/>
              <a:t>.   </a:t>
            </a:r>
            <a:endParaRPr sz="1300"/>
          </a:p>
        </p:txBody>
      </p:sp>
      <p:cxnSp>
        <p:nvCxnSpPr>
          <p:cNvPr id="159" name="Google Shape;159;p25"/>
          <p:cNvCxnSpPr/>
          <p:nvPr/>
        </p:nvCxnSpPr>
        <p:spPr>
          <a:xfrm>
            <a:off x="309800" y="1015950"/>
            <a:ext cx="3020400" cy="45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